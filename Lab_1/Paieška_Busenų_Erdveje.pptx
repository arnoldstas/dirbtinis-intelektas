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0"/>
            <a:ext cx="12188952" cy="24688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286000"/>
            <a:ext cx="109728" cy="2468880"/>
          </a:xfrm>
          <a:prstGeom prst="rect">
            <a:avLst/>
          </a:prstGeom>
          <a:solidFill>
            <a:srgbClr val="0F9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423160"/>
            <a:ext cx="11430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</a:rPr>
              <a:t>Paieška būsenų erdvėje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38328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0F9B58"/>
                </a:solidFill>
              </a:rPr>
              <a:t>State-Space Search · AIMA architektūra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88620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CCCCCC"/>
                </a:solidFill>
              </a:rPr>
              <a:t>EightPuzzle  ·  NQueensProblem  ·  WaterJugProblem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21792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CCCCC"/>
                </a:solidFill>
              </a:rPr>
              <a:t>Dirbtinis Intelektas · 2025–2026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04320" y="649224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CCCCCC"/>
                </a:solidFill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F9B58"/>
                </a:solidFill>
              </a:rPr>
              <a:t>Turinys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2179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CCCC"/>
                </a:solidFill>
              </a:rPr>
              <a:t>Kas bus pristatyta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80160"/>
            <a:ext cx="10789920" cy="56692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280160"/>
            <a:ext cx="73152" cy="566928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307592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1.  AIMA architektūra – Problem, Node, paieška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975104"/>
            <a:ext cx="10789920" cy="56692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975104"/>
            <a:ext cx="73152" cy="566928"/>
          </a:xfrm>
          <a:prstGeom prst="rect">
            <a:avLst/>
          </a:prstGeom>
          <a:solidFill>
            <a:srgbClr val="0F9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002536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2.  EightPuzzle – aštuonių dėlionė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670048"/>
            <a:ext cx="10789920" cy="56692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2670048"/>
            <a:ext cx="73152" cy="56692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697480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3.  NQueensProblem – N karalienių uždavinys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364992"/>
            <a:ext cx="10789920" cy="56692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364992"/>
            <a:ext cx="73152" cy="566928"/>
          </a:xfrm>
          <a:prstGeom prst="rect">
            <a:avLst/>
          </a:prstGeom>
          <a:solidFill>
            <a:srgbClr val="F1C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392424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4.  Paieška į plotį vs į gylį vs informuota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059935"/>
            <a:ext cx="10789920" cy="56692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4059935"/>
            <a:ext cx="73152" cy="56692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087368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5.  Euristikos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754879"/>
            <a:ext cx="10789920" cy="56692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4754879"/>
            <a:ext cx="73152" cy="56692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4782312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6.  WaterJugProblem – savas uždavinys (1.4)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5449824"/>
            <a:ext cx="10789920" cy="56692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5449824"/>
            <a:ext cx="73152" cy="56692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5477256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7.  Išvados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704320" y="649224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CCCCCC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F9B58"/>
                </a:solidFill>
              </a:rPr>
              <a:t>AIMA architektūra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2179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CCCC"/>
                </a:solidFill>
              </a:rPr>
              <a:t>search.py pagrindiniai komponentai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5669280" cy="1600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234440"/>
            <a:ext cx="91440" cy="1600200"/>
          </a:xfrm>
          <a:prstGeom prst="rect">
            <a:avLst/>
          </a:prstGeom>
          <a:solidFill>
            <a:srgbClr val="0F9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261872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9B58"/>
                </a:solidFill>
              </a:rPr>
              <a:t>Problem  (abstrakti klasė)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645920"/>
            <a:ext cx="5394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initial, goal
actions(state)
result(state, action)
goal_test(state)
h(node)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971800"/>
            <a:ext cx="5669280" cy="1600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2971800"/>
            <a:ext cx="91440" cy="16002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999232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E86C1"/>
                </a:solidFill>
              </a:rPr>
              <a:t>Node  (paieškos medžio mazgas)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383280"/>
            <a:ext cx="5394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state, parent, action
path_cost, depth
expand(problem)
solution() · path()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4709160"/>
            <a:ext cx="5669280" cy="1600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5760" y="4709160"/>
            <a:ext cx="91440" cy="16002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4736592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67E22"/>
                </a:solidFill>
              </a:rPr>
              <a:t>Paieškos algoritmai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120640"/>
            <a:ext cx="5394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breadth_first_graph_search  → FIFO
depth_first_graph_search     → Stack
best_first_graph_search      → Priority Q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11887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Agento vykdymo ciklas: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1600200"/>
            <a:ext cx="5394960" cy="5943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0" y="1600200"/>
            <a:ext cx="73152" cy="594360"/>
          </a:xfrm>
          <a:prstGeom prst="rect">
            <a:avLst/>
          </a:prstGeom>
          <a:solidFill>
            <a:srgbClr val="0F9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37960" y="1627632"/>
            <a:ext cx="51663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1. Pradinė būsena  →  Node(initial)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2350008"/>
            <a:ext cx="5394960" cy="5943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0" y="2350008"/>
            <a:ext cx="73152" cy="59436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37960" y="2377440"/>
            <a:ext cx="51663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2. Dedi į frontier (eilė / stack)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0" y="3099815"/>
            <a:ext cx="5394960" cy="5943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00800" y="3099815"/>
            <a:ext cx="73152" cy="594360"/>
          </a:xfrm>
          <a:prstGeom prst="rect">
            <a:avLst/>
          </a:prstGeom>
          <a:solidFill>
            <a:srgbClr val="F1C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37960" y="3127248"/>
            <a:ext cx="51663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3. Išimi mazgą, tikrini goal_test()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0" y="3849624"/>
            <a:ext cx="5394960" cy="5943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400800" y="3849624"/>
            <a:ext cx="73152" cy="59436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37960" y="3877056"/>
            <a:ext cx="51663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4. expand(): generuoji vaikus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0" y="4599431"/>
            <a:ext cx="5394960" cy="5943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00800" y="4599431"/>
            <a:ext cx="73152" cy="59436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37960" y="4626864"/>
            <a:ext cx="51663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5. Vaikai → frontier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0" y="5349240"/>
            <a:ext cx="5394960" cy="5943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400800" y="5349240"/>
            <a:ext cx="73152" cy="594360"/>
          </a:xfrm>
          <a:prstGeom prst="rect">
            <a:avLst/>
          </a:prstGeom>
          <a:solidFill>
            <a:srgbClr val="0F9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37960" y="5376672"/>
            <a:ext cx="51663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6. Radus tikslą: solution()  ←  path()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704320" y="649224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CCCCCC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F9B58"/>
                </a:solidFill>
              </a:rPr>
              <a:t>EightPuzzle – Aštuonių dėlionė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2179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CCCC"/>
                </a:solidFill>
              </a:rPr>
              <a:t>Uždavinio aprašymas ir būsenos reprezentacija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188720"/>
            <a:ext cx="5760720" cy="5394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F9B58"/>
                </a:solidFill>
              </a:rPr>
              <a:t>Uždavinys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664208"/>
            <a:ext cx="54864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3×3 lenta su 8 numeruotomis plytelėmis
ir viena tuščia vieta (0).
Tikslas: perstumdinėjant pasiekti
tikslinę išdėstymą.
Pradinė būsena:
  (2, 4, 3, 1, 5, 6, 7, 8, 0)
Tikslinė būsena:
  (1, 2, 3, 4, 5, 6, 7, 8, 0)
Veiksmai: UP · DOWN · LEFT · RIGHT
(juda tuščia vieta)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188720"/>
            <a:ext cx="5577840" cy="5394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23444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E67E22"/>
                </a:solidFill>
              </a:rPr>
              <a:t>Būsenos vizualizacija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691640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9B58"/>
                </a:solidFill>
              </a:rPr>
              <a:t>Pradinė  (0 žingsnis)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92240" y="2011680"/>
            <a:ext cx="411479" cy="411479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10527" y="2029968"/>
            <a:ext cx="374904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31152" y="2011680"/>
            <a:ext cx="411479" cy="411479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0" y="2029968"/>
            <a:ext cx="374904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70063" y="2011680"/>
            <a:ext cx="411479" cy="411479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88351" y="2029968"/>
            <a:ext cx="374904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92240" y="2450592"/>
            <a:ext cx="411479" cy="411479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10527" y="2468880"/>
            <a:ext cx="374904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931152" y="2450592"/>
            <a:ext cx="411479" cy="411479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49440" y="2468880"/>
            <a:ext cx="374904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70063" y="2450592"/>
            <a:ext cx="411479" cy="411479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88351" y="2468880"/>
            <a:ext cx="374904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92240" y="2889504"/>
            <a:ext cx="411479" cy="411479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10527" y="2907792"/>
            <a:ext cx="374904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931152" y="2889504"/>
            <a:ext cx="411479" cy="411479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49440" y="2907792"/>
            <a:ext cx="374904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70063" y="2889504"/>
            <a:ext cx="411479" cy="411479"/>
          </a:xfrm>
          <a:prstGeom prst="rect">
            <a:avLst/>
          </a:prstGeom>
          <a:solidFill>
            <a:srgbClr val="0F9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88351" y="2907792"/>
            <a:ext cx="374904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0F9B58"/>
                </a:solidFill>
              </a:rPr>
              <a:t>_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1691640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1C40F"/>
                </a:solidFill>
              </a:rPr>
              <a:t>Po LEFT  (1 žingsnis)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321040" y="2011680"/>
            <a:ext cx="411479" cy="411479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39327" y="2029968"/>
            <a:ext cx="374904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759952" y="2011680"/>
            <a:ext cx="411479" cy="411479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778240" y="2029968"/>
            <a:ext cx="374904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198863" y="2011680"/>
            <a:ext cx="411479" cy="411479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217151" y="2029968"/>
            <a:ext cx="374904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321040" y="2450592"/>
            <a:ext cx="411479" cy="411479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39327" y="2468880"/>
            <a:ext cx="374904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759952" y="2450592"/>
            <a:ext cx="411479" cy="411479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778240" y="2468880"/>
            <a:ext cx="374904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198863" y="2450592"/>
            <a:ext cx="411479" cy="411479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217151" y="2468880"/>
            <a:ext cx="374904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321040" y="2889504"/>
            <a:ext cx="411479" cy="411479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339327" y="2907792"/>
            <a:ext cx="374904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759952" y="2889504"/>
            <a:ext cx="411479" cy="411479"/>
          </a:xfrm>
          <a:prstGeom prst="rect">
            <a:avLst/>
          </a:prstGeom>
          <a:solidFill>
            <a:srgbClr val="0F9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778240" y="2907792"/>
            <a:ext cx="374904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0F9B58"/>
                </a:solidFill>
              </a:rPr>
              <a:t>_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198863" y="2889504"/>
            <a:ext cx="411479" cy="411479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217151" y="2907792"/>
            <a:ext cx="374904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149840" y="1691640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67E22"/>
                </a:solidFill>
              </a:rPr>
              <a:t>Po UP    (2 žingsnis)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0149840" y="2011680"/>
            <a:ext cx="411479" cy="411479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168128" y="2029968"/>
            <a:ext cx="374904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0588752" y="2011680"/>
            <a:ext cx="411479" cy="411479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607040" y="2029968"/>
            <a:ext cx="374904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1027663" y="2011680"/>
            <a:ext cx="411479" cy="411479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1045951" y="2029968"/>
            <a:ext cx="374904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0149840" y="2450592"/>
            <a:ext cx="411479" cy="411479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168128" y="2468880"/>
            <a:ext cx="374904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0588752" y="2450592"/>
            <a:ext cx="411479" cy="411479"/>
          </a:xfrm>
          <a:prstGeom prst="rect">
            <a:avLst/>
          </a:prstGeom>
          <a:solidFill>
            <a:srgbClr val="0F9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0607040" y="2468880"/>
            <a:ext cx="374904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0F9B58"/>
                </a:solidFill>
              </a:rPr>
              <a:t>_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1027663" y="2450592"/>
            <a:ext cx="411479" cy="411479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1045951" y="2468880"/>
            <a:ext cx="374904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0149840" y="2889504"/>
            <a:ext cx="411479" cy="411479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168128" y="2907792"/>
            <a:ext cx="374904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0588752" y="2889504"/>
            <a:ext cx="411479" cy="411479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0607040" y="2907792"/>
            <a:ext cx="374904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1027663" y="2889504"/>
            <a:ext cx="411479" cy="411479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1045951" y="2907792"/>
            <a:ext cx="374904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446520" y="370332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Kortežo reikšmės: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446520" y="4041648"/>
            <a:ext cx="5303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1C40F"/>
                </a:solidFill>
              </a:rPr>
              <a:t>Žingsnis  Veiksmas     Kortežas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446520" y="4379976"/>
            <a:ext cx="5303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0  (pradinė)  —          (2,4,3,1,5,6,7,8,0)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446520" y="4718304"/>
            <a:ext cx="5303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1            LEFT       (2,4,3,1,5,6,7,0,8)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446520" y="5056631"/>
            <a:ext cx="5303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2            UP         (2,4,3,1,0,6,7,5,8)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446520" y="5394960"/>
            <a:ext cx="5303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3            LEFT       (2,4,3,0,1,6,7,5,8)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446520" y="5733288"/>
            <a:ext cx="5303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4            UP         (0,4,3,2,1,6,7,5,8)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1704320" y="649224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CCCCCC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F9B58"/>
                </a:solidFill>
              </a:rPr>
              <a:t>NQueensProblem – N karalienių uždavinys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2179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CCCC"/>
                </a:solidFill>
              </a:rPr>
              <a:t>Būsenų reprezentacija ir veiksmai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188720"/>
            <a:ext cx="5760720" cy="5394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F9B58"/>
                </a:solidFill>
              </a:rPr>
              <a:t>Uždavinys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664208"/>
            <a:ext cx="54864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N karalienių išdėstymas N×N šachmatų
lentoje taip, kad nė viena
nekerstu kitos.
N = 4  →  lenta 4×4
Pradinė būsena:
  (-1, -1, -1, -1)
  (visi stulpeliai tušti)
Tikslinė būsena:
  visi stulpeliai užpildyti
  ir nėra konfliktų
Veiksmas: eilės numeris (0–N-1)
į kurią dedama karalienė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188720"/>
            <a:ext cx="5577840" cy="5394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23444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E67E22"/>
                </a:solidFill>
              </a:rPr>
              <a:t>Būsenų eiga (N=4)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719072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9B58"/>
                </a:solidFill>
              </a:rPr>
              <a:t>(-1,-1,-1,-1)  pradinė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92240" y="1993391"/>
            <a:ext cx="329184" cy="329184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92240" y="2340863"/>
            <a:ext cx="329184" cy="329184"/>
          </a:xfrm>
          <a:prstGeom prst="rect">
            <a:avLst/>
          </a:prstGeom>
          <a:solidFill>
            <a:srgbClr val="1A2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92240" y="2688335"/>
            <a:ext cx="329184" cy="329184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92240" y="3035808"/>
            <a:ext cx="329184" cy="329184"/>
          </a:xfrm>
          <a:prstGeom prst="rect">
            <a:avLst/>
          </a:prstGeom>
          <a:solidFill>
            <a:srgbClr val="1A2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39712" y="1993391"/>
            <a:ext cx="329184" cy="329184"/>
          </a:xfrm>
          <a:prstGeom prst="rect">
            <a:avLst/>
          </a:prstGeom>
          <a:solidFill>
            <a:srgbClr val="1A2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839712" y="2340863"/>
            <a:ext cx="329184" cy="329184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39712" y="2688335"/>
            <a:ext cx="329184" cy="329184"/>
          </a:xfrm>
          <a:prstGeom prst="rect">
            <a:avLst/>
          </a:prstGeom>
          <a:solidFill>
            <a:srgbClr val="1A2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39712" y="3035808"/>
            <a:ext cx="329184" cy="329184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187183" y="1993391"/>
            <a:ext cx="329184" cy="329184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187183" y="2340863"/>
            <a:ext cx="329184" cy="329184"/>
          </a:xfrm>
          <a:prstGeom prst="rect">
            <a:avLst/>
          </a:prstGeom>
          <a:solidFill>
            <a:srgbClr val="1A2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187183" y="2688335"/>
            <a:ext cx="329184" cy="329184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187183" y="3035808"/>
            <a:ext cx="329184" cy="329184"/>
          </a:xfrm>
          <a:prstGeom prst="rect">
            <a:avLst/>
          </a:prstGeom>
          <a:solidFill>
            <a:srgbClr val="1A2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534656" y="1993391"/>
            <a:ext cx="329184" cy="329184"/>
          </a:xfrm>
          <a:prstGeom prst="rect">
            <a:avLst/>
          </a:prstGeom>
          <a:solidFill>
            <a:srgbClr val="1A2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534656" y="2340863"/>
            <a:ext cx="329184" cy="329184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534656" y="2688335"/>
            <a:ext cx="329184" cy="329184"/>
          </a:xfrm>
          <a:prstGeom prst="rect">
            <a:avLst/>
          </a:prstGeom>
          <a:solidFill>
            <a:srgbClr val="1A2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534656" y="3035808"/>
            <a:ext cx="329184" cy="329184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92240" y="2724912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1C40F"/>
                </a:solidFill>
              </a:rPr>
              <a:t>(1,-1,-1,-1)   1 veiksmas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92240" y="2999232"/>
            <a:ext cx="329184" cy="329184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492240" y="3346703"/>
            <a:ext cx="329184" cy="329184"/>
          </a:xfrm>
          <a:prstGeom prst="rect">
            <a:avLst/>
          </a:prstGeom>
          <a:solidFill>
            <a:srgbClr val="0F9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01383" y="3346703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Q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92240" y="3694176"/>
            <a:ext cx="329184" cy="329184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492240" y="4041648"/>
            <a:ext cx="329184" cy="329184"/>
          </a:xfrm>
          <a:prstGeom prst="rect">
            <a:avLst/>
          </a:prstGeom>
          <a:solidFill>
            <a:srgbClr val="1A2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839712" y="2999232"/>
            <a:ext cx="329184" cy="329184"/>
          </a:xfrm>
          <a:prstGeom prst="rect">
            <a:avLst/>
          </a:prstGeom>
          <a:solidFill>
            <a:srgbClr val="1A2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839712" y="3346703"/>
            <a:ext cx="329184" cy="329184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839712" y="3694176"/>
            <a:ext cx="329184" cy="329184"/>
          </a:xfrm>
          <a:prstGeom prst="rect">
            <a:avLst/>
          </a:prstGeom>
          <a:solidFill>
            <a:srgbClr val="1A2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839712" y="4041648"/>
            <a:ext cx="329184" cy="329184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187183" y="2999232"/>
            <a:ext cx="329184" cy="329184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187183" y="3346703"/>
            <a:ext cx="329184" cy="329184"/>
          </a:xfrm>
          <a:prstGeom prst="rect">
            <a:avLst/>
          </a:prstGeom>
          <a:solidFill>
            <a:srgbClr val="1A2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187183" y="3694176"/>
            <a:ext cx="329184" cy="329184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187183" y="4041648"/>
            <a:ext cx="329184" cy="329184"/>
          </a:xfrm>
          <a:prstGeom prst="rect">
            <a:avLst/>
          </a:prstGeom>
          <a:solidFill>
            <a:srgbClr val="1A2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534656" y="2999232"/>
            <a:ext cx="329184" cy="329184"/>
          </a:xfrm>
          <a:prstGeom prst="rect">
            <a:avLst/>
          </a:prstGeom>
          <a:solidFill>
            <a:srgbClr val="1A2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534656" y="3346703"/>
            <a:ext cx="329184" cy="329184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534656" y="3694176"/>
            <a:ext cx="329184" cy="329184"/>
          </a:xfrm>
          <a:prstGeom prst="rect">
            <a:avLst/>
          </a:prstGeom>
          <a:solidFill>
            <a:srgbClr val="1A2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534656" y="4041648"/>
            <a:ext cx="329184" cy="329184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92240" y="3730752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1C40F"/>
                </a:solidFill>
              </a:rPr>
              <a:t>(1,3,-1,-1)    2 veiksmas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492240" y="4005072"/>
            <a:ext cx="329184" cy="329184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492240" y="4352544"/>
            <a:ext cx="329184" cy="329184"/>
          </a:xfrm>
          <a:prstGeom prst="rect">
            <a:avLst/>
          </a:prstGeom>
          <a:solidFill>
            <a:srgbClr val="0F9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501383" y="4352544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Q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492240" y="4700016"/>
            <a:ext cx="329184" cy="329184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492240" y="5047488"/>
            <a:ext cx="329184" cy="329184"/>
          </a:xfrm>
          <a:prstGeom prst="rect">
            <a:avLst/>
          </a:prstGeom>
          <a:solidFill>
            <a:srgbClr val="1A2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839712" y="4005072"/>
            <a:ext cx="329184" cy="329184"/>
          </a:xfrm>
          <a:prstGeom prst="rect">
            <a:avLst/>
          </a:prstGeom>
          <a:solidFill>
            <a:srgbClr val="1A2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839712" y="4352544"/>
            <a:ext cx="329184" cy="329184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839712" y="4700016"/>
            <a:ext cx="329184" cy="329184"/>
          </a:xfrm>
          <a:prstGeom prst="rect">
            <a:avLst/>
          </a:prstGeom>
          <a:solidFill>
            <a:srgbClr val="1A2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839712" y="5047488"/>
            <a:ext cx="329184" cy="329184"/>
          </a:xfrm>
          <a:prstGeom prst="rect">
            <a:avLst/>
          </a:prstGeom>
          <a:solidFill>
            <a:srgbClr val="0F9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848855" y="5047488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Q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187183" y="4005072"/>
            <a:ext cx="329184" cy="329184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187183" y="4352544"/>
            <a:ext cx="329184" cy="329184"/>
          </a:xfrm>
          <a:prstGeom prst="rect">
            <a:avLst/>
          </a:prstGeom>
          <a:solidFill>
            <a:srgbClr val="1A2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7187183" y="4700016"/>
            <a:ext cx="329184" cy="329184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7187183" y="5047488"/>
            <a:ext cx="329184" cy="329184"/>
          </a:xfrm>
          <a:prstGeom prst="rect">
            <a:avLst/>
          </a:prstGeom>
          <a:solidFill>
            <a:srgbClr val="1A2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534656" y="4005072"/>
            <a:ext cx="329184" cy="329184"/>
          </a:xfrm>
          <a:prstGeom prst="rect">
            <a:avLst/>
          </a:prstGeom>
          <a:solidFill>
            <a:srgbClr val="1A2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7534656" y="4352544"/>
            <a:ext cx="329184" cy="329184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7534656" y="4700016"/>
            <a:ext cx="329184" cy="329184"/>
          </a:xfrm>
          <a:prstGeom prst="rect">
            <a:avLst/>
          </a:prstGeom>
          <a:solidFill>
            <a:srgbClr val="1A2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534656" y="5047488"/>
            <a:ext cx="329184" cy="329184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492240" y="4736592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1C40F"/>
                </a:solidFill>
              </a:rPr>
              <a:t>(1,3,0,-1)     3 veiksmas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492240" y="5010912"/>
            <a:ext cx="329184" cy="329184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492240" y="5358383"/>
            <a:ext cx="329184" cy="329184"/>
          </a:xfrm>
          <a:prstGeom prst="rect">
            <a:avLst/>
          </a:prstGeom>
          <a:solidFill>
            <a:srgbClr val="0F9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501383" y="5358383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Q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492240" y="5705855"/>
            <a:ext cx="329184" cy="329184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492240" y="6053327"/>
            <a:ext cx="329184" cy="329184"/>
          </a:xfrm>
          <a:prstGeom prst="rect">
            <a:avLst/>
          </a:prstGeom>
          <a:solidFill>
            <a:srgbClr val="1A2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839712" y="5010912"/>
            <a:ext cx="329184" cy="329184"/>
          </a:xfrm>
          <a:prstGeom prst="rect">
            <a:avLst/>
          </a:prstGeom>
          <a:solidFill>
            <a:srgbClr val="1A2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839712" y="5358383"/>
            <a:ext cx="329184" cy="329184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839712" y="5705855"/>
            <a:ext cx="329184" cy="329184"/>
          </a:xfrm>
          <a:prstGeom prst="rect">
            <a:avLst/>
          </a:prstGeom>
          <a:solidFill>
            <a:srgbClr val="1A2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839712" y="6053327"/>
            <a:ext cx="329184" cy="329184"/>
          </a:xfrm>
          <a:prstGeom prst="rect">
            <a:avLst/>
          </a:prstGeom>
          <a:solidFill>
            <a:srgbClr val="0F9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848855" y="6053327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Q</a:t>
            </a:r>
          </a:p>
        </p:txBody>
      </p:sp>
      <p:sp>
        <p:nvSpPr>
          <p:cNvPr id="76" name="Rectangle 75"/>
          <p:cNvSpPr/>
          <p:nvPr/>
        </p:nvSpPr>
        <p:spPr>
          <a:xfrm>
            <a:off x="7187183" y="5010912"/>
            <a:ext cx="329184" cy="329184"/>
          </a:xfrm>
          <a:prstGeom prst="rect">
            <a:avLst/>
          </a:prstGeom>
          <a:solidFill>
            <a:srgbClr val="0F9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196327" y="5010912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Q</a:t>
            </a:r>
          </a:p>
        </p:txBody>
      </p:sp>
      <p:sp>
        <p:nvSpPr>
          <p:cNvPr id="78" name="Rectangle 77"/>
          <p:cNvSpPr/>
          <p:nvPr/>
        </p:nvSpPr>
        <p:spPr>
          <a:xfrm>
            <a:off x="7187183" y="5358383"/>
            <a:ext cx="329184" cy="329184"/>
          </a:xfrm>
          <a:prstGeom prst="rect">
            <a:avLst/>
          </a:prstGeom>
          <a:solidFill>
            <a:srgbClr val="1A2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187183" y="5705855"/>
            <a:ext cx="329184" cy="329184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187183" y="6053327"/>
            <a:ext cx="329184" cy="329184"/>
          </a:xfrm>
          <a:prstGeom prst="rect">
            <a:avLst/>
          </a:prstGeom>
          <a:solidFill>
            <a:srgbClr val="1A2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534656" y="5010912"/>
            <a:ext cx="329184" cy="329184"/>
          </a:xfrm>
          <a:prstGeom prst="rect">
            <a:avLst/>
          </a:prstGeom>
          <a:solidFill>
            <a:srgbClr val="1A2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534656" y="5358383"/>
            <a:ext cx="329184" cy="329184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534656" y="5705855"/>
            <a:ext cx="329184" cy="329184"/>
          </a:xfrm>
          <a:prstGeom prst="rect">
            <a:avLst/>
          </a:prstGeom>
          <a:solidFill>
            <a:srgbClr val="1A2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534656" y="6053327"/>
            <a:ext cx="329184" cy="329184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6492240" y="5742432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0392B"/>
                </a:solidFill>
              </a:rPr>
              <a:t>(1,3,0,2)      tikslinė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492240" y="6016752"/>
            <a:ext cx="329184" cy="329184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6492240" y="6364224"/>
            <a:ext cx="329184" cy="329184"/>
          </a:xfrm>
          <a:prstGeom prst="rect">
            <a:avLst/>
          </a:prstGeom>
          <a:solidFill>
            <a:srgbClr val="0F9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6501383" y="6364224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Q</a:t>
            </a:r>
          </a:p>
        </p:txBody>
      </p:sp>
      <p:sp>
        <p:nvSpPr>
          <p:cNvPr id="89" name="Rectangle 88"/>
          <p:cNvSpPr/>
          <p:nvPr/>
        </p:nvSpPr>
        <p:spPr>
          <a:xfrm>
            <a:off x="6492240" y="6711696"/>
            <a:ext cx="329184" cy="329184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6492240" y="7059168"/>
            <a:ext cx="329184" cy="329184"/>
          </a:xfrm>
          <a:prstGeom prst="rect">
            <a:avLst/>
          </a:prstGeom>
          <a:solidFill>
            <a:srgbClr val="1A2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6839712" y="6016752"/>
            <a:ext cx="329184" cy="329184"/>
          </a:xfrm>
          <a:prstGeom prst="rect">
            <a:avLst/>
          </a:prstGeom>
          <a:solidFill>
            <a:srgbClr val="1A2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6839712" y="6364224"/>
            <a:ext cx="329184" cy="329184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6839712" y="6711696"/>
            <a:ext cx="329184" cy="329184"/>
          </a:xfrm>
          <a:prstGeom prst="rect">
            <a:avLst/>
          </a:prstGeom>
          <a:solidFill>
            <a:srgbClr val="1A2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6839712" y="7059168"/>
            <a:ext cx="329184" cy="329184"/>
          </a:xfrm>
          <a:prstGeom prst="rect">
            <a:avLst/>
          </a:prstGeom>
          <a:solidFill>
            <a:srgbClr val="0F9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848855" y="7059168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Q</a:t>
            </a:r>
          </a:p>
        </p:txBody>
      </p:sp>
      <p:sp>
        <p:nvSpPr>
          <p:cNvPr id="96" name="Rectangle 95"/>
          <p:cNvSpPr/>
          <p:nvPr/>
        </p:nvSpPr>
        <p:spPr>
          <a:xfrm>
            <a:off x="7187183" y="6016752"/>
            <a:ext cx="329184" cy="329184"/>
          </a:xfrm>
          <a:prstGeom prst="rect">
            <a:avLst/>
          </a:prstGeom>
          <a:solidFill>
            <a:srgbClr val="0F9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7196327" y="6016752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Q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187183" y="6364224"/>
            <a:ext cx="329184" cy="329184"/>
          </a:xfrm>
          <a:prstGeom prst="rect">
            <a:avLst/>
          </a:prstGeom>
          <a:solidFill>
            <a:srgbClr val="1A2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7187183" y="6711696"/>
            <a:ext cx="329184" cy="329184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7187183" y="7059168"/>
            <a:ext cx="329184" cy="329184"/>
          </a:xfrm>
          <a:prstGeom prst="rect">
            <a:avLst/>
          </a:prstGeom>
          <a:solidFill>
            <a:srgbClr val="1A2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7534656" y="6016752"/>
            <a:ext cx="329184" cy="329184"/>
          </a:xfrm>
          <a:prstGeom prst="rect">
            <a:avLst/>
          </a:prstGeom>
          <a:solidFill>
            <a:srgbClr val="1A2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7534656" y="6364224"/>
            <a:ext cx="329184" cy="329184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7534656" y="6711696"/>
            <a:ext cx="329184" cy="329184"/>
          </a:xfrm>
          <a:prstGeom prst="rect">
            <a:avLst/>
          </a:prstGeom>
          <a:solidFill>
            <a:srgbClr val="0F9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7543800" y="6711696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Q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7534656" y="7059168"/>
            <a:ext cx="329184" cy="329184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11704320" y="649224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CCCCCC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F9B58"/>
                </a:solidFill>
              </a:rPr>
              <a:t>Paieškos algoritmai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2179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CCCC"/>
                </a:solidFill>
              </a:rPr>
              <a:t>BFS · DFS · Best-First – kaip eilė lemia strategiją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188720"/>
            <a:ext cx="3794760" cy="5394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188720"/>
            <a:ext cx="91440" cy="539496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234440"/>
            <a:ext cx="3566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E86C1"/>
                </a:solidFill>
              </a:rPr>
              <a:t>Paieška į plotį
(BFS)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920240"/>
            <a:ext cx="3520440" cy="411480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947672"/>
            <a:ext cx="3429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1C40F"/>
                </a:solidFill>
              </a:rPr>
              <a:t>Eilė: FIFO  (deque)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423160"/>
            <a:ext cx="35661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• Išimamas PIRMASIS elementas (popleft)
• Pirma aplankomi VISI to gylio mazgai
• Garantuoja TRUMPIAUSIĄ kelią
• Naudoja daug atminties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79" y="1188720"/>
            <a:ext cx="3794760" cy="5394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7679" y="1188720"/>
            <a:ext cx="91440" cy="539496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4840" y="1234440"/>
            <a:ext cx="3566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67E22"/>
                </a:solidFill>
              </a:rPr>
              <a:t>Paieška į gylį
(DFS)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34840" y="1920240"/>
            <a:ext cx="3520440" cy="411480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59" y="1947672"/>
            <a:ext cx="3429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1C40F"/>
                </a:solidFill>
              </a:rPr>
              <a:t>Eilė: LIFO Stack  (list)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2423160"/>
            <a:ext cx="35661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• Išimamas PASKUTINIS elementas (pop)
• Eina KIEK GALIMA giliau
• Neranda trumpiausio kelio
• Naudoja mažai atminties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75319" y="1188720"/>
            <a:ext cx="3794760" cy="5394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75319" y="1188720"/>
            <a:ext cx="91440" cy="5394960"/>
          </a:xfrm>
          <a:prstGeom prst="rect">
            <a:avLst/>
          </a:prstGeom>
          <a:solidFill>
            <a:srgbClr val="0F9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0" y="1234440"/>
            <a:ext cx="3566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9B58"/>
                </a:solidFill>
              </a:rPr>
              <a:t>Informuota paieška
(Best-First)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412480" y="1920240"/>
            <a:ext cx="3520440" cy="411480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58199" y="1947672"/>
            <a:ext cx="3429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1C40F"/>
                </a:solidFill>
              </a:rPr>
              <a:t>Eilė: Prioritetinė (heapq)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2423160"/>
            <a:ext cx="35661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• Išimamas MAŽIAUSIOS h(n) mazgas
• Naudoja heuristinę funkciją
• Greitesnė nei BFS didelėse erdvėse
• Nėra garantuotas trumpiausias kelias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6400800"/>
            <a:ext cx="11612880" cy="347472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80" y="6419088"/>
            <a:ext cx="11430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C40F"/>
                </a:solidFill>
              </a:rPr>
              <a:t>frontier = deque([Node(initial)])  # BFS     |    frontier = [Node(initial)]  # DFS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704320" y="649224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CCCCCC"/>
                </a:solidFill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F9B58"/>
                </a:solidFill>
              </a:rPr>
              <a:t>Euristikos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2179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CCCC"/>
                </a:solidFill>
              </a:rPr>
              <a:t>h(n) – kiek liko iki tikslo?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188720"/>
            <a:ext cx="5486400" cy="5394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F9B58"/>
                </a:solidFill>
              </a:rPr>
              <a:t>EightPuzzle heuristikos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691640"/>
            <a:ext cx="52120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1. Neteisingų plytelių skaičius
   (Misplaced Tiles):
   h(n) = kiek plytelių ne savo vietoje
   Pavyzdys:
   Esama:   (2,4,3,1,5,6,7,8,0)
   Tikslas: (1,2,3,4,5,6,7,8,0)
   2≠1, 4≠2, 1≠4  →  h = 3
2. Manheteno atstumas
   (Manhattan Distance):
   h(n) = Σ |eilutė_d - eilutė_t|
            + |stulpelis_d - stulpelis_t|
   Tikslesnė, bet sudėtingesnė.</a:t>
            </a:r>
          </a:p>
        </p:txBody>
      </p:sp>
      <p:sp>
        <p:nvSpPr>
          <p:cNvPr id="9" name="Rectangle 8"/>
          <p:cNvSpPr/>
          <p:nvPr/>
        </p:nvSpPr>
        <p:spPr>
          <a:xfrm>
            <a:off x="6080760" y="1188720"/>
            <a:ext cx="5760720" cy="5394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123444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E67E22"/>
                </a:solidFill>
              </a:rPr>
              <a:t>NQueensProblem heuristika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1691640"/>
            <a:ext cx="54864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Kertančių porų skaičius:
   h(n) = kiek karalienių porų
           kertasi tarpusavyje
   Kuo mažiau — tuo geriau
   h = 0  →  tikslinė būsena!
Konfliktas egzistuoja, jei:
  • ta pati eilutė
  • tas pats stulpelis
  • ta pati įstrižainė
    (|r1-r2| == |c1-c2|)
WaterJugProblem heuristika:
   h(n) = |a - 2|
   (kiek litrų trūksta iki 2L)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704320" y="649224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CCCCCC"/>
                </a:solidFill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F9B58"/>
                </a:solidFill>
              </a:rPr>
              <a:t>WaterJugProblem – Savas uždavinys (1.4)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2179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CCCC"/>
                </a:solidFill>
              </a:rPr>
              <a:t>Vandens kibirų problema · AIMA architektūra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207008"/>
            <a:ext cx="11567160" cy="914400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207008"/>
            <a:ext cx="91440" cy="914400"/>
          </a:xfrm>
          <a:prstGeom prst="rect">
            <a:avLst/>
          </a:prstGeom>
          <a:solidFill>
            <a:srgbClr val="F1C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234440"/>
            <a:ext cx="11155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1C40F"/>
                </a:solidFill>
              </a:rPr>
              <a:t>AI Prompt (GitHub Copilot / Claude):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527048"/>
            <a:ext cx="111556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CCCCC"/>
                </a:solidFill>
              </a:rPr>
              <a:t>"Using the AIMA search.py architecture (Problem base class), implement the Water Jug Problem: Jug A=4L, Jug B=3L, goal=2L in A. Solve with BFS, DFS, best-first. Print step-by-step, draw networkx state-space graph."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2240280"/>
            <a:ext cx="5486400" cy="43891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28600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9B58"/>
                </a:solidFill>
              </a:rPr>
              <a:t>Uždavinio aprašymas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697480"/>
            <a:ext cx="5212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Kibiras A: talpa 4 litrai
Kibiras B: talpa 3 litrai
Pradinė būsena: (0, 0)
  A=0L, B=0L – abu tušti
Tikslinė būsena: A == 2L
Veiksmai (6):
  Fill A    – pripilti A iki 4L
  Fill B    – pripilti B iki 3L
  Empty A   – išpilti A
  Empty B   – išpilti B
  Pour A→B  – pilti iš A į B
  Pour B→A  – pilti iš B į 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89320" y="2240280"/>
            <a:ext cx="5897880" cy="43891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6480" y="228600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67E22"/>
                </a:solidFill>
              </a:rPr>
              <a:t>BFS sprendimas (6 žingsniai)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2724912"/>
            <a:ext cx="5577840" cy="484632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72200" y="2761488"/>
            <a:ext cx="53949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9B58"/>
                </a:solidFill>
              </a:rPr>
              <a:t>  0.  Pradžia      (0, 0)      A=0L  B=0L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6480" y="3273552"/>
            <a:ext cx="5577840" cy="48463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72200" y="3310128"/>
            <a:ext cx="53949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  1.  Fill A       (4, 0)      A=4L  B=0L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26480" y="3822191"/>
            <a:ext cx="5577840" cy="48463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72200" y="3858768"/>
            <a:ext cx="53949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  2.  Pour A→B     (1, 3)      A=1L  B=3L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26480" y="4370831"/>
            <a:ext cx="5577840" cy="48463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72200" y="4407407"/>
            <a:ext cx="53949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  3.  Empty B      (1, 0)      A=1L  B=0L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26480" y="4919472"/>
            <a:ext cx="5577840" cy="48463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72200" y="4956048"/>
            <a:ext cx="53949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  4.  Pour A→B     (0, 1)      A=0L  B=1L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26480" y="5468112"/>
            <a:ext cx="5577840" cy="48463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72200" y="5504688"/>
            <a:ext cx="53949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  5.  Fill A       (4, 1)      A=4L  B=1L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26480" y="6016752"/>
            <a:ext cx="5577840" cy="484632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72200" y="6053328"/>
            <a:ext cx="53949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0392B"/>
                </a:solidFill>
              </a:rPr>
              <a:t>  6.  Pour A→B     (2, 3)      A=2L  B=3L  ✓ TIKSLAS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704320" y="649224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CCCCCC"/>
                </a:solidFill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F9B58"/>
                </a:solidFill>
              </a:rPr>
              <a:t>WaterJugProblem – Kodo architektūra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2179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CCCC"/>
                </a:solidFill>
              </a:rPr>
              <a:t>Problem klasės implementacija · AIMA šablonas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234440"/>
            <a:ext cx="5760720" cy="26060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234440"/>
            <a:ext cx="73152" cy="2606040"/>
          </a:xfrm>
          <a:prstGeom prst="rect">
            <a:avLst/>
          </a:prstGeom>
          <a:solidFill>
            <a:srgbClr val="0F9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28016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9B58"/>
                </a:solidFill>
              </a:rPr>
              <a:t>__init__  –  pradinė būsena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" y="1673352"/>
            <a:ext cx="5513832" cy="2084831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2" y="1709928"/>
            <a:ext cx="5394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def __init__(self):
    self.CAP_A = 4    # Kibiras A: 4L
    self.CAP_B = 3    # Kibiras B: 3L
    super().__init__(initial=(0, 0))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59" y="1234440"/>
            <a:ext cx="5760720" cy="26060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59" y="1234440"/>
            <a:ext cx="73152" cy="260604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28016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86C1"/>
                </a:solidFill>
              </a:rPr>
              <a:t>actions(state)  –  galimi veiksmai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19088" y="1673352"/>
            <a:ext cx="5513832" cy="2084831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3951" y="1709928"/>
            <a:ext cx="5394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def actions(self, state):
    a, b = state
    if a &lt; CAP_A:  possible.append('Fill A')
    if b &lt; CAP_B:  possible.append('Fill B')
    if a &gt; 0:      possible.append('Empty A')
    if a &gt; 0 and b &lt; CAP_B: possible.append('Pour A-&gt;B')
    ...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3977639"/>
            <a:ext cx="5760720" cy="26060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3977639"/>
            <a:ext cx="73152" cy="260604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4023359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67E22"/>
                </a:solidFill>
              </a:rPr>
              <a:t>result(state, action)  –  nauja būsena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9768" y="4416552"/>
            <a:ext cx="5513832" cy="2084831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4632" y="4453127"/>
            <a:ext cx="5394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def result(self, state, action):
    if action == 'Fill A':    return (CAP_A, b)
    if action == 'Pour A-&gt;B':
        pour = min(a, CAP_B - b)
        return (a - pour, b + pour)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59" y="3977639"/>
            <a:ext cx="5760720" cy="26060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09359" y="3977639"/>
            <a:ext cx="73152" cy="2606040"/>
          </a:xfrm>
          <a:prstGeom prst="rect">
            <a:avLst/>
          </a:prstGeom>
          <a:solidFill>
            <a:srgbClr val="F1C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4023359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1C40F"/>
                </a:solidFill>
              </a:rPr>
              <a:t>goal_test  +  h  –  tikslas ir heuristika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19088" y="4416552"/>
            <a:ext cx="5513832" cy="2084831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3951" y="4453127"/>
            <a:ext cx="5394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def goal_test(self, state):
    return state[0] == 2   # A == 2L
def h(self, node):
    return abs(node.state[0] - 2)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704320" y="649224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CCCCCC"/>
                </a:solidFill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F9B58"/>
                </a:solidFill>
              </a:rPr>
              <a:t>Būsenų erdvės grafai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2179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CCCC"/>
                </a:solidFill>
              </a:rPr>
              <a:t>Vizualizacija su networkx + matplotlib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234440"/>
            <a:ext cx="5577840" cy="5029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79" y="1280160"/>
            <a:ext cx="53949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9B58"/>
                </a:solidFill>
              </a:rPr>
              <a:t>EightPuzzle – BFS grafas</a:t>
            </a:r>
          </a:p>
        </p:txBody>
      </p:sp>
      <p:pic>
        <p:nvPicPr>
          <p:cNvPr id="8" name="Picture 7" descr="eight_puzzle_grap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192" y="1673352"/>
            <a:ext cx="5431536" cy="449884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172200" y="1234440"/>
            <a:ext cx="5577840" cy="5029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63640" y="1280160"/>
            <a:ext cx="53949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67E22"/>
                </a:solidFill>
              </a:rPr>
              <a:t>NQueens – Best-First grafas</a:t>
            </a:r>
          </a:p>
        </p:txBody>
      </p:sp>
      <p:pic>
        <p:nvPicPr>
          <p:cNvPr id="11" name="Picture 10" descr="nqueens_grap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5352" y="1673352"/>
            <a:ext cx="5431536" cy="449884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1704320" y="649224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CCCCCC"/>
                </a:solidFill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F9B58"/>
                </a:solidFill>
              </a:rPr>
              <a:t>WaterJugProblem – Būsenų erdvės grafas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2179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CCCC"/>
                </a:solidFill>
              </a:rPr>
              <a:t>14 būsenų · 13 perėjimų · BFS sprendimas 6 žingsniais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188720"/>
            <a:ext cx="11567160" cy="54406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water_jug_grap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34440"/>
            <a:ext cx="11475720" cy="53492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704320" y="649224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CCCCCC"/>
                </a:solidFill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F9B58"/>
                </a:solidFill>
              </a:rPr>
              <a:t>Išvados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2179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CCCC"/>
                </a:solidFill>
              </a:rPr>
              <a:t>Ko išmokome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234440"/>
            <a:ext cx="5760720" cy="24688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234440"/>
            <a:ext cx="91440" cy="2468880"/>
          </a:xfrm>
          <a:prstGeom prst="rect">
            <a:avLst/>
          </a:prstGeom>
          <a:solidFill>
            <a:srgbClr val="0F9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4632" y="1307592"/>
            <a:ext cx="5440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F9B58"/>
                </a:solidFill>
              </a:rPr>
              <a:t>AIMA architektūra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" y="1737360"/>
            <a:ext cx="5440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Problem → Node → paieškos algoritmas.
Kiekvienas uždavinys implementuoja actions(), result(), goal_test(), h().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59" y="1234440"/>
            <a:ext cx="5760720" cy="24688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59" y="1234440"/>
            <a:ext cx="91440" cy="246888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73951" y="1307592"/>
            <a:ext cx="5440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2E86C1"/>
                </a:solidFill>
              </a:rPr>
              <a:t>Eilė lemia strategiją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3951" y="1737360"/>
            <a:ext cx="5440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FIFO deque = BFS (plotis) · LIFO stack = DFS (gylis)
Prioritetinė eilė + h(n) = informuota paieška.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3840480"/>
            <a:ext cx="5760720" cy="24688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0040" y="3840480"/>
            <a:ext cx="91440" cy="246888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4632" y="3913632"/>
            <a:ext cx="5440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E67E22"/>
                </a:solidFill>
              </a:rPr>
              <a:t>Euristikos pagreitina paiešką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" y="4343400"/>
            <a:ext cx="5440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Misplaced tiles (EightPuzzle) · kertančios poros (NQueens)
· |a-2| (WaterJug). Geresnis h → mažiau aplankytų mazgų.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59" y="3840480"/>
            <a:ext cx="5760720" cy="24688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59" y="3840480"/>
            <a:ext cx="91440" cy="2468880"/>
          </a:xfrm>
          <a:prstGeom prst="rect">
            <a:avLst/>
          </a:prstGeom>
          <a:solidFill>
            <a:srgbClr val="F1C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73951" y="3913632"/>
            <a:ext cx="5440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1C40F"/>
                </a:solidFill>
              </a:rPr>
              <a:t>WaterJugProblem (1.4)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73951" y="4343400"/>
            <a:ext cx="5440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Savas uždavinys sukurtas su AI. 14 būsenų, sprendimas 6 žingsniais.
Pilnai integruotas su AIMA search.py architektūra.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704320" y="649224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CCCCCC"/>
                </a:solidFill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